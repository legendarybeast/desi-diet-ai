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5334000" cy="75628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Website supplied by the user: https://desi-diet.vercel.app/. All interface images, logo artwork, Pusti AI illustration, and QR code were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positioning and feature claims are based on the user-supplied Desi-Diet screenshots and the project README: https://github.com/LegendaryBeast/desi-diet-AI. The README describes personalized meal planning, bilingual access, mobile web access, WhatsApp integration, Bangladeshi food data, NDG 2025, and health tracking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s 29"/>
          <p:cNvSpPr>
            <a:spLocks noGrp="1"/>
          </p:cNvSpPr>
          <p:nvPr/>
        </p:nvSpPr>
        <p:spPr>
          <a:xfrm>
            <a:off x="0" y="0"/>
            <a:ext cx="5334000" cy="76200"/>
          </a:xfrm>
          <a:prstGeom prst="rect">
            <a:avLst/>
          </a:prstGeom>
          <a:solidFill>
            <a:srgbClr val="D64B2A"/>
          </a:solidFill>
          <a:ln w="0">
            <a:noFill/>
          </a:ln>
        </p:spPr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3850" y="266700"/>
            <a:ext cx="514350" cy="514350"/>
          </a:xfrm>
          <a:prstGeom prst="roundRect">
            <a:avLst>
              <a:gd name="adj" fmla="val 22222"/>
            </a:avLst>
          </a:prstGeom>
        </p:spPr>
      </p:pic>
      <p:sp>
        <p:nvSpPr>
          <p:cNvPr id="3" name="Rectangles 2"/>
          <p:cNvSpPr>
            <a:spLocks noGrp="1"/>
          </p:cNvSpPr>
          <p:nvPr/>
        </p:nvSpPr>
        <p:spPr>
          <a:xfrm>
            <a:off x="962025" y="29527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Desi-</a:t>
            </a:r>
            <a:r>
              <a:rPr sz="2025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Diet</a:t>
            </a:r>
            <a:r>
              <a:rPr sz="2025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 AI</a:t>
            </a:r>
            <a:endParaRPr sz="2025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981075" y="619125"/>
            <a:ext cx="2571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640" b="1">
                <a:solidFill>
                  <a:srgbClr val="209553"/>
                </a:solidFill>
                <a:latin typeface="DejaVu Sans"/>
                <a:ea typeface="DejaVu Sans"/>
                <a:cs typeface="DejaVu Sans"/>
              </a:defRPr>
            </a:pPr>
            <a:r>
              <a:rPr sz="640" b="1">
                <a:solidFill>
                  <a:srgbClr val="209553"/>
                </a:solidFill>
                <a:latin typeface="DejaVu Sans"/>
                <a:ea typeface="DejaVu Sans"/>
                <a:cs typeface="DejaVu Sans"/>
              </a:rPr>
              <a:t>AI NUTRITION FOR BANGLADESH</a:t>
            </a:r>
            <a:endParaRPr sz="640" b="1">
              <a:solidFill>
                <a:srgbClr val="20955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323850" y="1066800"/>
            <a:ext cx="300037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93000"/>
              </a:lnSpc>
              <a:buNone/>
              <a:defRPr sz="270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70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Let’s Make a Healthy Bangladesh</a:t>
            </a:r>
            <a:endParaRPr lang="en-US" sz="270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93000"/>
              </a:lnSpc>
              <a:buNone/>
              <a:defRPr sz="270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endParaRPr lang="en-US" sz="270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333375" y="2338705"/>
            <a:ext cx="266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990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990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Personalized meal plans and nutrition guidance built around Bangladeshi food and your health profile.</a:t>
            </a:r>
            <a:endParaRPr sz="990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924175"/>
            <a:ext cx="1638300" cy="1638300"/>
          </a:xfrm>
          <a:prstGeom prst="rect">
            <a:avLst/>
          </a:prstGeom>
        </p:spPr>
      </p:pic>
      <p:sp>
        <p:nvSpPr>
          <p:cNvPr id="8" name="Rounded Rectangle 7"/>
          <p:cNvSpPr>
            <a:spLocks noGrp="1"/>
          </p:cNvSpPr>
          <p:nvPr/>
        </p:nvSpPr>
        <p:spPr>
          <a:xfrm>
            <a:off x="3314700" y="925830"/>
            <a:ext cx="1661160" cy="348361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ED7CC"/>
            </a:solidFill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l="3824" r="3824"/>
          <a:stretch>
            <a:fillRect/>
          </a:stretch>
        </p:blipFill>
        <p:spPr>
          <a:xfrm>
            <a:off x="3387090" y="979805"/>
            <a:ext cx="1524635" cy="3343910"/>
          </a:xfrm>
          <a:prstGeom prst="roundRect">
            <a:avLst>
              <a:gd name="adj" fmla="val 11613"/>
            </a:avLst>
          </a:prstGeom>
        </p:spPr>
      </p:pic>
      <p:sp>
        <p:nvSpPr>
          <p:cNvPr id="10" name="Rectangles 9"/>
          <p:cNvSpPr>
            <a:spLocks noGrp="1"/>
          </p:cNvSpPr>
          <p:nvPr/>
        </p:nvSpPr>
        <p:spPr>
          <a:xfrm>
            <a:off x="0" y="4686300"/>
            <a:ext cx="5334000" cy="2876550"/>
          </a:xfrm>
          <a:prstGeom prst="rect">
            <a:avLst/>
          </a:prstGeom>
          <a:solidFill>
            <a:srgbClr val="1E201F"/>
          </a:solidFill>
          <a:ln w="0">
            <a:noFill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323850" y="49720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A9D71A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A9D71A"/>
                </a:solidFill>
                <a:latin typeface="DejaVu Sans"/>
                <a:ea typeface="DejaVu Sans"/>
                <a:cs typeface="DejaVu Sans"/>
              </a:rPr>
              <a:t>START FREE</a:t>
            </a:r>
            <a:endParaRPr sz="750" b="1">
              <a:solidFill>
                <a:srgbClr val="A9D71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323850" y="5200650"/>
            <a:ext cx="17716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Scan and begin</a:t>
            </a:r>
            <a:endParaRPr sz="18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323850" y="59245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65" b="0">
                <a:solidFill>
                  <a:srgbClr val="DADDD8"/>
                </a:solidFill>
                <a:latin typeface="DejaVu Sans"/>
                <a:ea typeface="DejaVu Sans"/>
                <a:cs typeface="DejaVu Sans"/>
              </a:defRPr>
            </a:pPr>
            <a:r>
              <a:rPr sz="865" b="0">
                <a:solidFill>
                  <a:srgbClr val="DADDD8"/>
                </a:solidFill>
                <a:latin typeface="DejaVu Sans"/>
                <a:ea typeface="DejaVu Sans"/>
                <a:cs typeface="DejaVu Sans"/>
              </a:rPr>
              <a:t>Your plan works across the website, mobile and WhatsApp.</a:t>
            </a:r>
            <a:endParaRPr sz="865" b="0">
              <a:solidFill>
                <a:srgbClr val="DADDD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476500" y="4991100"/>
            <a:ext cx="1409700" cy="14097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2552700" y="6096000"/>
            <a:ext cx="1257300" cy="228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2667000" y="6510655"/>
            <a:ext cx="102870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640" b="1">
                <a:solidFill>
                  <a:srgbClr val="A9D71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9D71A"/>
                </a:solidFill>
                <a:latin typeface="DejaVu Sans"/>
                <a:ea typeface="DejaVu Sans"/>
                <a:cs typeface="DejaVu Sans"/>
              </a:rPr>
              <a:t>SCAN ME</a:t>
            </a:r>
            <a:endParaRPr sz="1200" b="1">
              <a:solidFill>
                <a:srgbClr val="A9D71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010025" y="50863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D64B2A"/>
          </a:solidFill>
          <a:ln w="0">
            <a:noFill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4181475" y="504825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WEBSITE</a:t>
            </a:r>
            <a:endParaRPr sz="91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4181475" y="5238750"/>
            <a:ext cx="914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rPr>
              <a:t>Full dashboard and AI chat</a:t>
            </a:r>
            <a:endParaRPr sz="660" b="0">
              <a:solidFill>
                <a:srgbClr val="C9CEC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010025" y="56578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A9D71A"/>
          </a:solidFill>
          <a:ln w="0">
            <a:noFill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4181475" y="561975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MOBILE</a:t>
            </a:r>
            <a:endParaRPr sz="91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4181475" y="5810250"/>
            <a:ext cx="914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rPr>
              <a:t>Meal plan and daily tracking</a:t>
            </a:r>
            <a:endParaRPr sz="660" b="0">
              <a:solidFill>
                <a:srgbClr val="C9CEC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4010025" y="62293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209553"/>
          </a:solidFill>
          <a:ln w="0">
            <a:noFill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4181475" y="619125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1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WHATSAPP</a:t>
            </a:r>
            <a:endParaRPr sz="91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4181475" y="6381750"/>
            <a:ext cx="914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defRPr>
            </a:pPr>
            <a:r>
              <a:rPr sz="660" b="0">
                <a:solidFill>
                  <a:srgbClr val="C9CEC9"/>
                </a:solidFill>
                <a:latin typeface="DejaVu Sans"/>
                <a:ea typeface="DejaVu Sans"/>
                <a:cs typeface="DejaVu Sans"/>
              </a:rPr>
              <a:t>Ask questions from your chat</a:t>
            </a:r>
            <a:endParaRPr sz="660" b="0">
              <a:solidFill>
                <a:srgbClr val="C9CEC9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323850" y="6819900"/>
            <a:ext cx="4686300" cy="9525"/>
          </a:xfrm>
          <a:prstGeom prst="rect">
            <a:avLst/>
          </a:prstGeom>
          <a:solidFill>
            <a:srgbClr val="3B3E3C"/>
          </a:solidFill>
          <a:ln w="0">
            <a:noFill/>
          </a:ln>
        </p:spPr>
      </p:sp>
      <p:sp>
        <p:nvSpPr>
          <p:cNvPr id="28" name="Rectangles 27"/>
          <p:cNvSpPr>
            <a:spLocks noGrp="1"/>
          </p:cNvSpPr>
          <p:nvPr/>
        </p:nvSpPr>
        <p:spPr>
          <a:xfrm>
            <a:off x="323850" y="69913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desi-diet.vercel.app</a:t>
            </a:r>
            <a:endParaRPr sz="105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3238500" y="7000875"/>
            <a:ext cx="1771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AEB4AF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AEB4AF"/>
                </a:solidFill>
                <a:latin typeface="DejaVu Sans"/>
                <a:ea typeface="DejaVu Sans"/>
                <a:cs typeface="DejaVu Sans"/>
              </a:rPr>
              <a:t>Personalized nutrition, wherever you are</a:t>
            </a:r>
            <a:endParaRPr sz="675" b="0">
              <a:solidFill>
                <a:srgbClr val="AEB4AF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 descr="My_QR_Code"/>
          <p:cNvPicPr>
            <a:picLocks noChangeAspect="1"/>
          </p:cNvPicPr>
          <p:nvPr/>
        </p:nvPicPr>
        <p:blipFill>
          <a:blip r:embed="rId4"/>
          <a:srcRect b="24925"/>
          <a:stretch>
            <a:fillRect/>
          </a:stretch>
        </p:blipFill>
        <p:spPr>
          <a:xfrm>
            <a:off x="2451100" y="4956810"/>
            <a:ext cx="1480820" cy="1447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s 32"/>
          <p:cNvSpPr>
            <a:spLocks noGrp="1"/>
          </p:cNvSpPr>
          <p:nvPr/>
        </p:nvSpPr>
        <p:spPr>
          <a:xfrm>
            <a:off x="0" y="0"/>
            <a:ext cx="5334000" cy="76200"/>
          </a:xfrm>
          <a:prstGeom prst="rect">
            <a:avLst/>
          </a:prstGeom>
          <a:solidFill>
            <a:srgbClr val="209553"/>
          </a:solidFill>
          <a:ln w="0">
            <a:noFill/>
          </a:ln>
        </p:spPr>
      </p:sp>
      <p:sp>
        <p:nvSpPr>
          <p:cNvPr id="2" name="Rectangles 1"/>
          <p:cNvSpPr>
            <a:spLocks noGrp="1"/>
          </p:cNvSpPr>
          <p:nvPr/>
        </p:nvSpPr>
        <p:spPr>
          <a:xfrm>
            <a:off x="323850" y="285750"/>
            <a:ext cx="30480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22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Why Desi-Diet</a:t>
            </a:r>
            <a:endParaRPr sz="22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94000"/>
              </a:lnSpc>
              <a:buNone/>
              <a:defRPr sz="22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feels different</a:t>
            </a:r>
            <a:endParaRPr sz="22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3381375" y="400050"/>
            <a:ext cx="16287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Nutrition guidance shaped for Bangladeshi meals, language and health needs.</a:t>
            </a:r>
            <a:endParaRPr sz="825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323850" y="1181100"/>
            <a:ext cx="4686300" cy="1982470"/>
          </a:xfrm>
          <a:prstGeom prst="roundRect">
            <a:avLst>
              <a:gd name="adj" fmla="val 10000"/>
            </a:avLst>
          </a:prstGeom>
          <a:solidFill>
            <a:srgbClr val="F7F3EA"/>
          </a:solidFill>
          <a:ln w="9525">
            <a:solidFill>
              <a:srgbClr val="DED7CC"/>
            </a:solidFill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rcRect t="946" b="946"/>
          <a:stretch>
            <a:fillRect/>
          </a:stretch>
        </p:blipFill>
        <p:spPr>
          <a:xfrm>
            <a:off x="438150" y="1333500"/>
            <a:ext cx="3067050" cy="1433830"/>
          </a:xfrm>
          <a:prstGeom prst="roundRect">
            <a:avLst>
              <a:gd name="adj" fmla="val 7534"/>
            </a:avLst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rcRect t="1834" b="1834"/>
          <a:stretch>
            <a:fillRect/>
          </a:stretch>
        </p:blipFill>
        <p:spPr>
          <a:xfrm>
            <a:off x="3763010" y="1297940"/>
            <a:ext cx="693420" cy="1487170"/>
          </a:xfrm>
          <a:prstGeom prst="roundRect">
            <a:avLst>
              <a:gd name="adj" fmla="val 13333"/>
            </a:avLst>
          </a:prstGeom>
        </p:spPr>
      </p:pic>
      <p:sp>
        <p:nvSpPr>
          <p:cNvPr id="8" name="Rectangles 7"/>
          <p:cNvSpPr>
            <a:spLocks noGrp="1"/>
          </p:cNvSpPr>
          <p:nvPr/>
        </p:nvSpPr>
        <p:spPr>
          <a:xfrm>
            <a:off x="1586865" y="2828925"/>
            <a:ext cx="161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675" b="1">
                <a:solidFill>
                  <a:srgbClr val="D64B2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D64B2A"/>
                </a:solidFill>
                <a:latin typeface="DejaVu Sans"/>
                <a:ea typeface="DejaVu Sans"/>
                <a:cs typeface="DejaVu Sans"/>
              </a:rPr>
              <a:t>Web assistant</a:t>
            </a:r>
            <a:endParaRPr sz="900" b="1">
              <a:solidFill>
                <a:srgbClr val="D64B2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3790950" y="2812415"/>
            <a:ext cx="640715" cy="1085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640" b="1">
                <a:solidFill>
                  <a:srgbClr val="20955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9553"/>
                </a:solidFill>
                <a:latin typeface="DejaVu Sans"/>
                <a:ea typeface="DejaVu Sans"/>
                <a:cs typeface="DejaVu Sans"/>
              </a:rPr>
              <a:t>WhatsApp access</a:t>
            </a:r>
            <a:endParaRPr sz="900" b="1">
              <a:solidFill>
                <a:srgbClr val="20955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323850" y="35623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64B2A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64B2A"/>
                </a:solidFill>
                <a:latin typeface="DejaVu Sans"/>
                <a:ea typeface="DejaVu Sans"/>
                <a:cs typeface="DejaVu Sans"/>
              </a:rPr>
              <a:t>600</a:t>
            </a:r>
            <a:r>
              <a:rPr sz="1500" b="1">
                <a:solidFill>
                  <a:srgbClr val="D64B2A"/>
                </a:solidFill>
                <a:latin typeface="DejaVu Sans"/>
                <a:ea typeface="DejaVu Sans"/>
                <a:cs typeface="DejaVu Sans"/>
              </a:rPr>
              <a:t>+</a:t>
            </a:r>
            <a:endParaRPr sz="1500" b="1">
              <a:solidFill>
                <a:srgbClr val="D64B2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1524000" y="3571875"/>
            <a:ext cx="16668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LOCAL FOODS</a:t>
            </a:r>
            <a:endParaRPr sz="7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524000" y="378142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Plans use familiar Bangladeshi meals and portions instead of generic foreign menus.</a:t>
            </a:r>
            <a:endParaRPr sz="825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323850" y="4210050"/>
            <a:ext cx="4686300" cy="9525"/>
          </a:xfrm>
          <a:prstGeom prst="rect">
            <a:avLst/>
          </a:prstGeom>
          <a:solidFill>
            <a:srgbClr val="DED7CC"/>
          </a:solidFill>
          <a:ln w="0">
            <a:noFill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323850" y="42862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20955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9553"/>
                </a:solidFill>
                <a:latin typeface="DejaVu Sans"/>
                <a:ea typeface="DejaVu Sans"/>
                <a:cs typeface="DejaVu Sans"/>
              </a:rPr>
              <a:t>70+</a:t>
            </a:r>
            <a:endParaRPr sz="1500" b="1">
              <a:solidFill>
                <a:srgbClr val="20955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1524000" y="4295775"/>
            <a:ext cx="16668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HEALTH CONDITIONS</a:t>
            </a:r>
            <a:endParaRPr sz="7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524000" y="450532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Recommendations adapt to your profile, goals and selected health needs.</a:t>
            </a:r>
            <a:endParaRPr sz="825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323850" y="4933950"/>
            <a:ext cx="4686300" cy="9525"/>
          </a:xfrm>
          <a:prstGeom prst="rect">
            <a:avLst/>
          </a:prstGeom>
          <a:solidFill>
            <a:srgbClr val="DED7CC"/>
          </a:solidFill>
          <a:ln w="0">
            <a:noFill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323850" y="50101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8AAA1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AAA10"/>
                </a:solidFill>
                <a:latin typeface="DejaVu Sans"/>
                <a:ea typeface="DejaVu Sans"/>
                <a:cs typeface="DejaVu Sans"/>
              </a:rPr>
              <a:t>NDG 2025</a:t>
            </a:r>
            <a:r>
              <a:rPr lang="en-US" sz="1500" b="1">
                <a:solidFill>
                  <a:srgbClr val="8AAA10"/>
                </a:solidFill>
                <a:latin typeface="DejaVu Sans"/>
                <a:ea typeface="DejaVu Sans"/>
                <a:cs typeface="DejaVu Sans"/>
              </a:rPr>
              <a:t>, FCT, WHO</a:t>
            </a:r>
            <a:endParaRPr lang="en-US" sz="1500" b="1">
              <a:solidFill>
                <a:srgbClr val="8AAA1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1524000" y="5019675"/>
            <a:ext cx="16668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TRUSTED REFERENCES</a:t>
            </a:r>
            <a:endParaRPr sz="7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1524000" y="522922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Guidance draws on Bangladeshi food composition data, plus WHO and ICMR references.</a:t>
            </a:r>
            <a:endParaRPr sz="825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323850" y="5657850"/>
            <a:ext cx="4686300" cy="9525"/>
          </a:xfrm>
          <a:prstGeom prst="rect">
            <a:avLst/>
          </a:prstGeom>
          <a:solidFill>
            <a:srgbClr val="DED7CC"/>
          </a:solidFill>
          <a:ln w="0">
            <a:noFill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323850" y="57340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64B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64B2A"/>
                </a:solidFill>
                <a:latin typeface="DejaVu Sans"/>
                <a:ea typeface="DejaVu Sans"/>
                <a:cs typeface="DejaVu Sans"/>
              </a:rPr>
              <a:t>3 WAYS</a:t>
            </a:r>
            <a:endParaRPr sz="1500" b="1">
              <a:solidFill>
                <a:srgbClr val="D64B2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1524000" y="5743575"/>
            <a:ext cx="16668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81512"/>
                </a:solidFill>
                <a:latin typeface="DejaVu Sans"/>
                <a:ea typeface="DejaVu Sans"/>
                <a:cs typeface="DejaVu Sans"/>
              </a:rPr>
              <a:t>EASY ACCESS</a:t>
            </a:r>
            <a:endParaRPr sz="750" b="1">
              <a:solidFill>
                <a:srgbClr val="18151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1524000" y="595312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D675F"/>
                </a:solidFill>
                <a:latin typeface="DejaVu Sans"/>
                <a:ea typeface="DejaVu Sans"/>
                <a:cs typeface="DejaVu Sans"/>
              </a:rPr>
              <a:t>Use one nutrition companion on the website, from mobile, or through WhatsApp.</a:t>
            </a:r>
            <a:endParaRPr sz="825" b="0">
              <a:solidFill>
                <a:srgbClr val="6D675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0" y="6496050"/>
            <a:ext cx="5334000" cy="1066800"/>
          </a:xfrm>
          <a:prstGeom prst="rect">
            <a:avLst/>
          </a:prstGeom>
          <a:solidFill>
            <a:srgbClr val="1E201F"/>
          </a:solidFill>
          <a:ln w="0">
            <a:noFill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323850" y="6696075"/>
            <a:ext cx="161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15" b="1">
                <a:solidFill>
                  <a:srgbClr val="A9D71A"/>
                </a:solidFill>
                <a:latin typeface="DejaVu Sans"/>
                <a:ea typeface="DejaVu Sans"/>
                <a:cs typeface="DejaVu Sans"/>
              </a:defRPr>
            </a:pPr>
            <a:r>
              <a:rPr sz="715" b="1">
                <a:solidFill>
                  <a:srgbClr val="A9D71A"/>
                </a:solidFill>
                <a:latin typeface="DejaVu Sans"/>
                <a:ea typeface="DejaVu Sans"/>
                <a:cs typeface="DejaVu Sans"/>
              </a:rPr>
              <a:t>READY TO START?</a:t>
            </a:r>
            <a:endParaRPr sz="715" b="1">
              <a:solidFill>
                <a:srgbClr val="A9D71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323850" y="6915150"/>
            <a:ext cx="22383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desi-diet.vercel.app</a:t>
            </a:r>
            <a:endParaRPr sz="105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2838450" y="6705600"/>
            <a:ext cx="666750" cy="13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640" b="1">
                <a:solidFill>
                  <a:srgbClr val="A9D71A"/>
                </a:solidFill>
                <a:latin typeface="DejaVu Sans"/>
                <a:ea typeface="DejaVu Sans"/>
                <a:cs typeface="DejaVu Sans"/>
              </a:defRPr>
            </a:pPr>
            <a:r>
              <a:rPr sz="640" b="1">
                <a:solidFill>
                  <a:srgbClr val="A9D71A"/>
                </a:solidFill>
                <a:latin typeface="DejaVu Sans"/>
                <a:ea typeface="DejaVu Sans"/>
                <a:cs typeface="DejaVu Sans"/>
              </a:rPr>
              <a:t>PHONE</a:t>
            </a:r>
            <a:endParaRPr sz="640" b="1">
              <a:solidFill>
                <a:srgbClr val="A9D71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2838450" y="689610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4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4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01762489345</a:t>
            </a:r>
            <a:endParaRPr sz="94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3952875" y="6705600"/>
            <a:ext cx="666750" cy="13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640" b="1">
                <a:solidFill>
                  <a:srgbClr val="A9D71A"/>
                </a:solidFill>
                <a:latin typeface="DejaVu Sans"/>
                <a:ea typeface="DejaVu Sans"/>
                <a:cs typeface="DejaVu Sans"/>
              </a:defRPr>
            </a:pPr>
            <a:r>
              <a:rPr sz="640" b="1">
                <a:solidFill>
                  <a:srgbClr val="A9D71A"/>
                </a:solidFill>
                <a:latin typeface="DejaVu Sans"/>
                <a:ea typeface="DejaVu Sans"/>
                <a:cs typeface="DejaVu Sans"/>
              </a:rPr>
              <a:t>EMAIL</a:t>
            </a:r>
            <a:endParaRPr sz="640" b="1">
              <a:solidFill>
                <a:srgbClr val="A9D71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3952875" y="6896100"/>
            <a:ext cx="10572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65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5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tanzimp6@gmail.com</a:t>
            </a:r>
            <a:endParaRPr sz="65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323850" y="7296150"/>
            <a:ext cx="4686300" cy="13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70" b="0">
                <a:solidFill>
                  <a:srgbClr val="AEB4AF"/>
                </a:solidFill>
                <a:latin typeface="DejaVu Sans"/>
                <a:ea typeface="DejaVu Sans"/>
                <a:cs typeface="DejaVu Sans"/>
              </a:defRPr>
            </a:pPr>
            <a:r>
              <a:rPr sz="570" b="0">
                <a:solidFill>
                  <a:srgbClr val="AEB4AF"/>
                </a:solidFill>
                <a:latin typeface="DejaVu Sans"/>
                <a:ea typeface="DejaVu Sans"/>
                <a:cs typeface="DejaVu Sans"/>
              </a:rPr>
              <a:t>General nutrition guidance only. For medical decisions, consult a qualified health professional.</a:t>
            </a:r>
            <a:endParaRPr sz="570" b="0">
              <a:solidFill>
                <a:srgbClr val="AEB4AF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WPS Writer</Application>
  <PresentationFormat>Converted Presentation</PresentationFormat>
  <Paragraphs>80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DejaVu Sans</vt:lpstr>
      <vt:lpstr>Thonburi</vt:lpstr>
      <vt:lpstr>Microsoft YaHei</vt:lpstr>
      <vt:lpstr>汉仪旗黑</vt:lpstr>
      <vt:lpstr>Arial Unicode MS</vt:lpstr>
      <vt:lpstr>Calibri</vt:lpstr>
      <vt:lpstr>Helvetica Neue</vt:lpstr>
      <vt:lpstr>DejaVu Sans</vt:lpstr>
      <vt:lpstr>汉仪书宋二KW</vt:lpstr>
      <vt:lpstr>苹方-简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tanzimhasanprappo</cp:lastModifiedBy>
  <cp:revision>1</cp:revision>
  <dcterms:created xsi:type="dcterms:W3CDTF">2026-09-12T01:04:43Z</dcterms:created>
  <dcterms:modified xsi:type="dcterms:W3CDTF">2026-09-12T01:04:43Z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530CF71E78D9E8C42BA5A46A20348092_42</vt:lpwstr>
  </property>
  <property fmtid="{D5CDD505-2E9C-101B-9397-08002B2CF9AE}" pid="3" name="KSOProductBuildVer">
    <vt:lpwstr>1033-12.1.23155.23155</vt:lpwstr>
  </property>
</Properties>
</file>